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Medium" charset="1" panose="00000600000000000000"/>
      <p:regular r:id="rId19"/>
    </p:embeddedFon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92321" y="2026114"/>
            <a:ext cx="7481764" cy="3462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2"/>
              </a:lnSpc>
            </a:pPr>
            <a:r>
              <a:rPr lang="en-US" b="true" sz="8564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RETAIL SALES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170044" y="801502"/>
            <a:ext cx="4678766" cy="4687288"/>
          </a:xfrm>
          <a:custGeom>
            <a:avLst/>
            <a:gdLst/>
            <a:ahLst/>
            <a:cxnLst/>
            <a:rect r="r" b="b" t="t" l="l"/>
            <a:pathLst>
              <a:path h="4687288" w="4678766">
                <a:moveTo>
                  <a:pt x="0" y="0"/>
                </a:moveTo>
                <a:lnTo>
                  <a:pt x="4678766" y="0"/>
                </a:lnTo>
                <a:lnTo>
                  <a:pt x="4678766" y="4687288"/>
                </a:lnTo>
                <a:lnTo>
                  <a:pt x="0" y="46872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8409" y="8428644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92321" y="5901063"/>
            <a:ext cx="9956489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Data Engineering Case Study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End-to-End Data Engineering Project Using Snowflake, Snowpipe, dbt, and Snowpark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886486" y="6708783"/>
            <a:ext cx="3372814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Vishnu Kothapalle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Sai Teja Mudapalli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Chitti Babu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Nirja Gupta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77348"/>
            <a:ext cx="6842469" cy="6382158"/>
          </a:xfrm>
          <a:custGeom>
            <a:avLst/>
            <a:gdLst/>
            <a:ahLst/>
            <a:cxnLst/>
            <a:rect r="r" b="b" t="t" l="l"/>
            <a:pathLst>
              <a:path h="6382158" w="6842469">
                <a:moveTo>
                  <a:pt x="0" y="0"/>
                </a:moveTo>
                <a:lnTo>
                  <a:pt x="6842469" y="0"/>
                </a:lnTo>
                <a:lnTo>
                  <a:pt x="6842469" y="6382157"/>
                </a:lnTo>
                <a:lnTo>
                  <a:pt x="0" y="6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92041" y="1195424"/>
            <a:ext cx="831663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92041" y="3336617"/>
            <a:ext cx="8093608" cy="617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This project builds a complete end-to-end retail data pipeline on Snowflake Project Explanation</a:t>
            </a:r>
          </a:p>
          <a:p>
            <a:pPr algn="l">
              <a:lnSpc>
                <a:spcPts val="3784"/>
              </a:lnSpc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Ingest raw files from AWS S3 using Snowpipe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Process through Bronze → Silver → Gold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Apply cleaning using Snowpark, PySpark, dbt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 SCD Type-2 dimensions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Automate with Streams &amp; Tasks</a:t>
            </a:r>
          </a:p>
          <a:p>
            <a:pPr algn="l" marL="583651" indent="-291825" lvl="1">
              <a:lnSpc>
                <a:spcPts val="3784"/>
              </a:lnSpc>
              <a:buFont typeface="Arial"/>
              <a:buChar char="•"/>
            </a:pPr>
            <a:r>
              <a:rPr lang="en-US" sz="270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Power insights through dashboards</a:t>
            </a:r>
          </a:p>
          <a:p>
            <a:pPr algn="l">
              <a:lnSpc>
                <a:spcPts val="3784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6053" y="2381532"/>
            <a:ext cx="7019004" cy="5844916"/>
          </a:xfrm>
          <a:custGeom>
            <a:avLst/>
            <a:gdLst/>
            <a:ahLst/>
            <a:cxnLst/>
            <a:rect r="r" b="b" t="t" l="l"/>
            <a:pathLst>
              <a:path h="5844916" w="7019004">
                <a:moveTo>
                  <a:pt x="0" y="0"/>
                </a:moveTo>
                <a:lnTo>
                  <a:pt x="7019004" y="0"/>
                </a:lnTo>
                <a:lnTo>
                  <a:pt x="7019004" y="5844916"/>
                </a:lnTo>
                <a:lnTo>
                  <a:pt x="0" y="5844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29813" y="2333907"/>
            <a:ext cx="6867281" cy="638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Modern retail companies generate massive volumes of transactional data, which is often: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Scattered across multiple sources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Inconsistent and difficult to analyze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Filled with quality issues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scalable and structured data pipeline is required to: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Clean and standardize data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Maintain data quality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Support analytics and reporting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Automate updates and ensure accuracy</a:t>
            </a: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429813" y="923925"/>
            <a:ext cx="7265449" cy="194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 Statement</a:t>
            </a:r>
          </a:p>
          <a:p>
            <a:pPr algn="l">
              <a:lnSpc>
                <a:spcPts val="784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04111" y="1255156"/>
            <a:ext cx="9744842" cy="182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7"/>
              </a:lnSpc>
            </a:pPr>
            <a:r>
              <a:rPr lang="en-US" sz="63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Project Objectives</a:t>
            </a:r>
          </a:p>
          <a:p>
            <a:pPr algn="l">
              <a:lnSpc>
                <a:spcPts val="716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672626" y="2451936"/>
            <a:ext cx="13843076" cy="7536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Primary Objective: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 design and implement an end-to-end, scalable retail analytics platform on Snowflake using the Medallion Architecture.</a:t>
            </a:r>
          </a:p>
          <a:p>
            <a:pPr algn="just">
              <a:lnSpc>
                <a:spcPts val="4619"/>
              </a:lnSpc>
            </a:pP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Specific Objectives: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Ingest raw data using External Stages + Snowpipe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Clean and validate data using Snowpark, PySpark, and dbt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Enforce data quality using dbt tests and custom validations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Build fact and dimension tables in the Gold layer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Implement incremental processing with Streams &amp; Tasks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Apply SCD Type-2 for historical tracking</a:t>
            </a:r>
          </a:p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 Enable analytics for pricing, returns, and customer behavior</a:t>
            </a:r>
          </a:p>
          <a:p>
            <a:pPr algn="just">
              <a:lnSpc>
                <a:spcPts val="46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2079" y="1720534"/>
            <a:ext cx="13186148" cy="8247449"/>
          </a:xfrm>
          <a:custGeom>
            <a:avLst/>
            <a:gdLst/>
            <a:ahLst/>
            <a:cxnLst/>
            <a:rect r="r" b="b" t="t" l="l"/>
            <a:pathLst>
              <a:path h="8247449" w="13186148">
                <a:moveTo>
                  <a:pt x="0" y="0"/>
                </a:moveTo>
                <a:lnTo>
                  <a:pt x="13186148" y="0"/>
                </a:lnTo>
                <a:lnTo>
                  <a:pt x="13186148" y="8247449"/>
                </a:lnTo>
                <a:lnTo>
                  <a:pt x="0" y="8247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43" t="-9565" r="0" b="-1005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40161" y="279858"/>
            <a:ext cx="726544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Modelling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96649" y="614999"/>
            <a:ext cx="923999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High-L</a:t>
            </a:r>
            <a:r>
              <a:rPr lang="en-US" b="true" sz="56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evel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38532" y="2172054"/>
            <a:ext cx="13497850" cy="99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AWS S3 → Snowpipe → Bronze → Streams → Silver (Snowpark + dbt) → Streams →Gold (SCD2) → Analytical Views → Dashboard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Explanation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Snowpipe auto-loads raw data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Silver layer uses Snowpark cleaning + dbt modeling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Gold layer maintains SCD2 dimensions + Fact_Sales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Tasks automate end-to-end pipeline</a:t>
            </a:r>
          </a:p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 analytical views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Tools &amp; Technologies: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Cloud &amp; Storage (AWS S3, Snowflake),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Ingestion (External Stage Parquet Format Snowpipe), Transformations (Snowpark (Python) PySpark ,SQL , dbt Cloud)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0504" y="476922"/>
            <a:ext cx="11872720" cy="336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Medallion Architecture (Bronze, Silver, Gold)</a:t>
            </a:r>
          </a:p>
          <a:p>
            <a:pPr algn="l">
              <a:lnSpc>
                <a:spcPts val="89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293026" y="2922828"/>
            <a:ext cx="14259658" cy="759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Bronze – Raw Data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Raw Parquet files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Auto-inges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io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Snowpipe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No transformations (source of truth) Project Explanation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Silver – Cleaned &amp; Standardized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Includes 3 processing stages: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Staging Load using Streams (Bronze → STG)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Snowpark Cleaning: null handling, trimming, date parsing, negative → 0, phone cleaning, NET_PRICE calc, audit logs</a:t>
            </a:r>
          </a:p>
          <a:p>
            <a:pPr algn="l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dbt Models: mode/median imputations, deduplication, FK checks, business rules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Gold – Business Layer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SCD2 Dimensions (Customer, Supplier, Part)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Fact_Sales built from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all Silver tables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Contains pricing, discount, tax, return info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4111" y="2215515"/>
            <a:ext cx="14424179" cy="786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Data Ingestion: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Raw files st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ored in S3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Loaded using Snowpipe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Transformation: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Bronze → Silver cleaning via Snowpark/dbt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Silver → Gold modeling via dbt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Data Quality: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dbt tests: not_null, unique, relationships, numeric rules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Incremental Processing: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Streams track changes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Tasks automate refresh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5. Analytics: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• Pricing, discounts, returns, customer insights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85850"/>
            <a:ext cx="15140685" cy="2054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End-to-End Data Pipeline Flow</a:t>
            </a:r>
          </a:p>
          <a:p>
            <a:pPr algn="l">
              <a:lnSpc>
                <a:spcPts val="806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5232" y="2824448"/>
            <a:ext cx="14424179" cy="664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Batch Processing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Technologies: AWS Glue, AWS S3, PySpark, Snowflake, dbt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Happens: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Large files processed in scheduled batches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leaning &amp; transformations in Snowpark / dbt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Gold tables refreshed periodically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Real-Time Streaming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Technologies: Snowflake Streams, Tasks, dbt incremental models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Happens: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Streams capture new/updated rows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Tasks merge changes into SCD2 dimensions</a:t>
            </a:r>
          </a:p>
          <a:p>
            <a:pPr algn="l" marL="582928" indent="-291464" lvl="1">
              <a:lnSpc>
                <a:spcPts val="377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Near real-time analytics enabled</a:t>
            </a:r>
          </a:p>
          <a:p>
            <a:pPr algn="l">
              <a:lnSpc>
                <a:spcPts val="37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94208"/>
            <a:ext cx="16230600" cy="215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8"/>
              </a:lnSpc>
            </a:pP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Pr</a:t>
            </a: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ocessing Approaches</a:t>
            </a:r>
          </a:p>
          <a:p>
            <a:pPr algn="l">
              <a:lnSpc>
                <a:spcPts val="8658"/>
              </a:lnSpc>
            </a:pPr>
            <a:r>
              <a:rPr lang="en-US" sz="6184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(Batch + Streaming)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9089" y="472693"/>
            <a:ext cx="15140685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sz="7200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SCD Type-2 &amp; Time</a:t>
            </a:r>
            <a:r>
              <a:rPr lang="en-US" b="true" sz="7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Travel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4553" y="1670113"/>
            <a:ext cx="15493057" cy="836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5"/>
              </a:lnSpc>
            </a:pPr>
            <a:r>
              <a:rPr lang="en-US" sz="29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SCD TYPE-2</a:t>
            </a:r>
          </a:p>
          <a:p>
            <a:pPr algn="l">
              <a:lnSpc>
                <a:spcPts val="4175"/>
              </a:lnSpc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Implemented for Customer, Supplier, Part: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Streams detect chang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 records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Procedure expires old row → CURRENT_FLAG = FALSE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Inserts new row with CURRENT_FLAG = TRUE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Maintain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 historical tracking</a:t>
            </a:r>
          </a:p>
          <a:p>
            <a:pPr algn="l">
              <a:lnSpc>
                <a:spcPts val="4175"/>
              </a:lnSpc>
            </a:pPr>
          </a:p>
          <a:p>
            <a:pPr algn="l">
              <a:lnSpc>
                <a:spcPts val="4175"/>
              </a:lnSpc>
            </a:pPr>
            <a:r>
              <a:rPr lang="en-US" sz="2982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Travel</a:t>
            </a:r>
          </a:p>
          <a:p>
            <a:pPr algn="l">
              <a:lnSpc>
                <a:spcPts val="4175"/>
              </a:lnSpc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Used for debugging &amp; audit: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Query 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ast versions of tables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alidate SCD2 behavior</a:t>
            </a:r>
          </a:p>
          <a:p>
            <a:pPr algn="l" marL="643913" indent="-321956" lvl="1">
              <a:lnSpc>
                <a:spcPts val="4175"/>
              </a:lnSpc>
              <a:buFont typeface="Arial"/>
              <a:buChar char="•"/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Rest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ore accidental updates</a:t>
            </a:r>
          </a:p>
          <a:p>
            <a:pPr algn="l">
              <a:lnSpc>
                <a:spcPts val="4175"/>
              </a:lnSpc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Example</a:t>
            </a: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s:</a:t>
            </a:r>
          </a:p>
          <a:p>
            <a:pPr algn="l">
              <a:lnSpc>
                <a:spcPts val="4175"/>
              </a:lnSpc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 (TIMESTAMP =&gt; DATEADD(MINUTE,-10,CURRENT_TIMESTAMP()))</a:t>
            </a:r>
          </a:p>
          <a:p>
            <a:pPr algn="l">
              <a:lnSpc>
                <a:spcPts val="4175"/>
              </a:lnSpc>
            </a:pPr>
            <a:r>
              <a:rPr lang="en-US" sz="29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BEFORE (OFFSET =&gt; -3*60*60)</a:t>
            </a:r>
          </a:p>
          <a:p>
            <a:pPr algn="l">
              <a:lnSpc>
                <a:spcPts val="4175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6689" y="320293"/>
            <a:ext cx="15140685" cy="1035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4"/>
              </a:lnSpc>
            </a:pPr>
            <a:r>
              <a:rPr lang="en-US" b="true" sz="72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Quality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66243" y="2185420"/>
            <a:ext cx="14319959" cy="5384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</a:p>
          <a:p>
            <a:pPr algn="l">
              <a:lnSpc>
                <a:spcPts val="3943"/>
              </a:lnSpc>
            </a:pPr>
            <a:r>
              <a:rPr lang="en-US" sz="281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Applied at Silver layer using dbt + custom logic: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Schema Tests: not-null, unique, FK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Cleaning Rules: null fill, trimming, date parsing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Rules: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iscount (0–1)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ax ≥ 0</a:t>
            </a:r>
          </a:p>
          <a:p>
            <a:pPr algn="l" marL="1216143" indent="-405381" lvl="2">
              <a:lnSpc>
                <a:spcPts val="3943"/>
              </a:lnSpc>
              <a:buFont typeface="Arial"/>
              <a:buChar char="⚬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non-negative price/quantity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 Tests: digits_only (phone), non_negative, string cleanliness</a:t>
            </a:r>
          </a:p>
          <a:p>
            <a:pPr algn="l" marL="608071" indent="-304036" lvl="1">
              <a:lnSpc>
                <a:spcPts val="3943"/>
              </a:lnSpc>
              <a:buFont typeface="Arial"/>
              <a:buChar char="•"/>
            </a:pP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8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udit Logs after every dbt model run</a:t>
            </a:r>
          </a:p>
          <a:p>
            <a:pPr algn="l">
              <a:lnSpc>
                <a:spcPts val="394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0157"/>
            <a:ext cx="11732417" cy="94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0"/>
              </a:lnSpc>
            </a:pPr>
            <a:r>
              <a:rPr lang="en-US" b="true" sz="7354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 Highlights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2373" y="2864329"/>
            <a:ext cx="16043254" cy="5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Metrics </a:t>
            </a: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shown: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revenue, quantity, avg discount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Missing value summary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Outlier detection &amp; distribution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Campaign performance (success vs failure)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Monthly/Quarterly pricing charts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Discount vs Sales impact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Return rate heatmaps</a:t>
            </a:r>
          </a:p>
          <a:p>
            <a:pPr algn="just" marL="712465" indent="-356233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Line-item performance comparisons</a:t>
            </a:r>
          </a:p>
          <a:p>
            <a:pPr algn="just">
              <a:lnSpc>
                <a:spcPts val="461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819805" y="7959505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6" y="0"/>
                </a:lnTo>
                <a:lnTo>
                  <a:pt x="4763916" y="2381959"/>
                </a:lnTo>
                <a:lnTo>
                  <a:pt x="0" y="2381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44753" y="2123224"/>
            <a:ext cx="3198495" cy="3204321"/>
          </a:xfrm>
          <a:custGeom>
            <a:avLst/>
            <a:gdLst/>
            <a:ahLst/>
            <a:cxnLst/>
            <a:rect r="r" b="b" t="t" l="l"/>
            <a:pathLst>
              <a:path h="3204321" w="3198495">
                <a:moveTo>
                  <a:pt x="0" y="0"/>
                </a:moveTo>
                <a:lnTo>
                  <a:pt x="3198494" y="0"/>
                </a:lnTo>
                <a:lnTo>
                  <a:pt x="3198494" y="3204320"/>
                </a:lnTo>
                <a:lnTo>
                  <a:pt x="0" y="320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3887" y="6163399"/>
            <a:ext cx="14140225" cy="157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44"/>
              </a:lnSpc>
            </a:pPr>
            <a:r>
              <a:rPr lang="en-US" b="true" sz="1440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65755" y="7691971"/>
            <a:ext cx="9956489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Your Attention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039174" y="8570340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0"/>
                </a:moveTo>
                <a:lnTo>
                  <a:pt x="4763917" y="0"/>
                </a:lnTo>
                <a:lnTo>
                  <a:pt x="4763917" y="2381958"/>
                </a:lnTo>
                <a:lnTo>
                  <a:pt x="0" y="2381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36382" y="-162279"/>
            <a:ext cx="4763917" cy="2381958"/>
          </a:xfrm>
          <a:custGeom>
            <a:avLst/>
            <a:gdLst/>
            <a:ahLst/>
            <a:cxnLst/>
            <a:rect r="r" b="b" t="t" l="l"/>
            <a:pathLst>
              <a:path h="2381958" w="4763917">
                <a:moveTo>
                  <a:pt x="0" y="2381958"/>
                </a:moveTo>
                <a:lnTo>
                  <a:pt x="4763917" y="2381958"/>
                </a:lnTo>
                <a:lnTo>
                  <a:pt x="4763917" y="0"/>
                </a:lnTo>
                <a:lnTo>
                  <a:pt x="0" y="0"/>
                </a:lnTo>
                <a:lnTo>
                  <a:pt x="0" y="238195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DAG6FZY-akQ</dc:identifier>
  <dcterms:modified xsi:type="dcterms:W3CDTF">2011-08-01T06:04:30Z</dcterms:modified>
  <cp:revision>1</cp:revision>
  <dc:title>Blue and Purple Illustrative Simple Sales Report Presentation</dc:title>
</cp:coreProperties>
</file>